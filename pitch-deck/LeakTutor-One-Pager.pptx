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7772400" cy="10058400"/>
  <p:notesSz cx="10058400" cy="7772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EFE4"/>
        </a:solidFill>
      </p:bgPr>
    </p:bg>
    <p:spTree>
      <p:nvGrpSpPr>
        <p:cNvPr id="1" name=""/>
        <p:cNvGrpSpPr/>
        <p:nvPr/>
      </p:nvGrpSpPr>
      <p:grpSpPr>
        <a:xfrm>
          <a:off x="0" y="0"/>
          <a:ext cx="0" cy="0"/>
          <a:chOff x="0" y="0"/>
          <a:chExt cx="0" cy="0"/>
        </a:xfrm>
      </p:grpSpPr>
      <p:sp>
        <p:nvSpPr>
          <p:cNvPr id="2" name="Shape 0"/>
          <p:cNvSpPr/>
          <p:nvPr/>
        </p:nvSpPr>
        <p:spPr>
          <a:xfrm>
            <a:off x="0" y="0"/>
            <a:ext cx="7772400" cy="2148840"/>
          </a:xfrm>
          <a:prstGeom prst="rect">
            <a:avLst/>
          </a:prstGeom>
          <a:solidFill>
            <a:srgbClr val="173129"/>
          </a:solidFill>
          <a:ln/>
        </p:spPr>
      </p:sp>
      <p:sp>
        <p:nvSpPr>
          <p:cNvPr id="3" name="Text 1"/>
          <p:cNvSpPr/>
          <p:nvPr/>
        </p:nvSpPr>
        <p:spPr>
          <a:xfrm>
            <a:off x="502920" y="292608"/>
            <a:ext cx="4572000" cy="365760"/>
          </a:xfrm>
          <a:prstGeom prst="rect">
            <a:avLst/>
          </a:prstGeom>
          <a:noFill/>
          <a:ln/>
        </p:spPr>
        <p:txBody>
          <a:bodyPr wrap="square" lIns="0" tIns="0" rIns="0" bIns="0" rtlCol="0" anchor="ctr"/>
          <a:lstStyle/>
          <a:p>
            <a:pPr indent="0" marL="0">
              <a:buNone/>
            </a:pPr>
            <a:r>
              <a:rPr lang="en-US" sz="1600" b="1" dirty="0">
                <a:solidFill>
                  <a:srgbClr val="D7A24B"/>
                </a:solidFill>
                <a:latin typeface="Georgia" pitchFamily="34" charset="0"/>
                <a:ea typeface="Georgia" pitchFamily="34" charset="-122"/>
                <a:cs typeface="Georgia" pitchFamily="34" charset="-120"/>
              </a:rPr>
              <a:t>♠  </a:t>
            </a:r>
            <a:pPr indent="0" marL="0">
              <a:buNone/>
            </a:pPr>
            <a:r>
              <a:rPr lang="en-US" sz="1600" b="1" dirty="0">
                <a:solidFill>
                  <a:srgbClr val="F4EFE4"/>
                </a:solidFill>
                <a:latin typeface="Georgia" pitchFamily="34" charset="0"/>
                <a:ea typeface="Georgia" pitchFamily="34" charset="-122"/>
                <a:cs typeface="Georgia" pitchFamily="34" charset="-120"/>
              </a:rPr>
              <a:t>LeakTutor</a:t>
            </a:r>
            <a:endParaRPr lang="en-US" sz="1600" dirty="0"/>
          </a:p>
        </p:txBody>
      </p:sp>
      <p:sp>
        <p:nvSpPr>
          <p:cNvPr id="4" name="Text 2"/>
          <p:cNvSpPr/>
          <p:nvPr/>
        </p:nvSpPr>
        <p:spPr>
          <a:xfrm>
            <a:off x="4572000" y="329184"/>
            <a:ext cx="2697480" cy="320040"/>
          </a:xfrm>
          <a:prstGeom prst="rect">
            <a:avLst/>
          </a:prstGeom>
          <a:noFill/>
          <a:ln/>
        </p:spPr>
        <p:txBody>
          <a:bodyPr wrap="square" lIns="0" tIns="0" rIns="0" bIns="0" rtlCol="0" anchor="ctr"/>
          <a:lstStyle/>
          <a:p>
            <a:pPr algn="r" indent="0" marL="0">
              <a:buNone/>
            </a:pPr>
            <a:r>
              <a:rPr lang="en-US" sz="950" b="1" spc="200" kern="0" dirty="0">
                <a:solidFill>
                  <a:srgbClr val="C9BCA0"/>
                </a:solidFill>
                <a:latin typeface="Calibri" pitchFamily="34" charset="0"/>
                <a:ea typeface="Calibri" pitchFamily="34" charset="-122"/>
                <a:cs typeface="Calibri" pitchFamily="34" charset="-120"/>
              </a:rPr>
              <a:t>INVESTOR ONE-PAGER · 2026</a:t>
            </a:r>
            <a:endParaRPr lang="en-US" sz="950" dirty="0"/>
          </a:p>
        </p:txBody>
      </p:sp>
      <p:sp>
        <p:nvSpPr>
          <p:cNvPr id="5" name="Text 3"/>
          <p:cNvSpPr/>
          <p:nvPr/>
        </p:nvSpPr>
        <p:spPr>
          <a:xfrm>
            <a:off x="502920" y="731520"/>
            <a:ext cx="6766560" cy="685800"/>
          </a:xfrm>
          <a:prstGeom prst="rect">
            <a:avLst/>
          </a:prstGeom>
          <a:noFill/>
          <a:ln/>
        </p:spPr>
        <p:txBody>
          <a:bodyPr wrap="square" lIns="0" tIns="0" rIns="0" bIns="0" rtlCol="0" anchor="ctr"/>
          <a:lstStyle/>
          <a:p>
            <a:pPr indent="0" marL="0">
              <a:buNone/>
            </a:pPr>
            <a:r>
              <a:rPr lang="en-US" sz="3000" b="1" dirty="0">
                <a:solidFill>
                  <a:srgbClr val="F4EFE4"/>
                </a:solidFill>
                <a:latin typeface="Georgia" pitchFamily="34" charset="0"/>
                <a:ea typeface="Georgia" pitchFamily="34" charset="-122"/>
                <a:cs typeface="Georgia" pitchFamily="34" charset="-120"/>
              </a:rPr>
              <a:t>Fix the leaks that cost you the pot.</a:t>
            </a:r>
            <a:endParaRPr lang="en-US" sz="3000" dirty="0"/>
          </a:p>
        </p:txBody>
      </p:sp>
      <p:sp>
        <p:nvSpPr>
          <p:cNvPr id="6" name="Text 4"/>
          <p:cNvSpPr/>
          <p:nvPr/>
        </p:nvSpPr>
        <p:spPr>
          <a:xfrm>
            <a:off x="502920" y="1508760"/>
            <a:ext cx="6766560" cy="502920"/>
          </a:xfrm>
          <a:prstGeom prst="rect">
            <a:avLst/>
          </a:prstGeom>
          <a:noFill/>
          <a:ln/>
        </p:spPr>
        <p:txBody>
          <a:bodyPr wrap="square" lIns="0" tIns="0" rIns="0" bIns="0" rtlCol="0" anchor="ctr"/>
          <a:lstStyle/>
          <a:p>
            <a:pPr indent="0" marL="0">
              <a:buNone/>
            </a:pPr>
            <a:r>
              <a:rPr lang="en-US" sz="1200" dirty="0">
                <a:solidFill>
                  <a:srgbClr val="C9BCA0"/>
                </a:solidFill>
                <a:latin typeface="Calibri" pitchFamily="34" charset="0"/>
                <a:ea typeface="Calibri" pitchFamily="34" charset="-122"/>
                <a:cs typeface="Calibri" pitchFamily="34" charset="-120"/>
              </a:rPr>
              <a:t>A personalized GTO poker trainer that finds your specific mistakes — and drills them away. Live, installable, fully offline.</a:t>
            </a:r>
            <a:endParaRPr lang="en-US" sz="1200" dirty="0"/>
          </a:p>
        </p:txBody>
      </p:sp>
      <p:sp>
        <p:nvSpPr>
          <p:cNvPr id="7" name="Text 5"/>
          <p:cNvSpPr/>
          <p:nvPr/>
        </p:nvSpPr>
        <p:spPr>
          <a:xfrm>
            <a:off x="502920" y="2377440"/>
            <a:ext cx="4572000" cy="237744"/>
          </a:xfrm>
          <a:prstGeom prst="rect">
            <a:avLst/>
          </a:prstGeom>
          <a:noFill/>
          <a:ln/>
        </p:spPr>
        <p:txBody>
          <a:bodyPr wrap="square" lIns="0" tIns="0" rIns="0" bIns="0" rtlCol="0" anchor="ctr"/>
          <a:lstStyle/>
          <a:p>
            <a:pPr indent="0" marL="0">
              <a:buNone/>
            </a:pPr>
            <a:r>
              <a:rPr lang="en-US" sz="1050" b="1" spc="200" kern="0" dirty="0">
                <a:solidFill>
                  <a:srgbClr val="C2674A"/>
                </a:solidFill>
                <a:latin typeface="Calibri" pitchFamily="34" charset="0"/>
                <a:ea typeface="Calibri" pitchFamily="34" charset="-122"/>
                <a:cs typeface="Calibri" pitchFamily="34" charset="-120"/>
              </a:rPr>
              <a:t>THE PROBLEM</a:t>
            </a:r>
            <a:endParaRPr lang="en-US" sz="1050" dirty="0"/>
          </a:p>
        </p:txBody>
      </p:sp>
      <p:sp>
        <p:nvSpPr>
          <p:cNvPr id="8" name="Text 6"/>
          <p:cNvSpPr/>
          <p:nvPr/>
        </p:nvSpPr>
        <p:spPr>
          <a:xfrm>
            <a:off x="502920" y="2615184"/>
            <a:ext cx="6766560" cy="566928"/>
          </a:xfrm>
          <a:prstGeom prst="rect">
            <a:avLst/>
          </a:prstGeom>
          <a:noFill/>
          <a:ln/>
        </p:spPr>
        <p:txBody>
          <a:bodyPr wrap="square" lIns="0" tIns="0" rIns="0" bIns="0" rtlCol="0" anchor="t"/>
          <a:lstStyle/>
          <a:p>
            <a:pPr indent="0" marL="0">
              <a:lnSpc>
                <a:spcPct val="104000"/>
              </a:lnSpc>
              <a:buNone/>
            </a:pPr>
            <a:r>
              <a:rPr lang="en-US" sz="1050" dirty="0">
                <a:solidFill>
                  <a:srgbClr val="23201A"/>
                </a:solidFill>
                <a:latin typeface="Calibri" pitchFamily="34" charset="0"/>
                <a:ea typeface="Calibri" pitchFamily="34" charset="-122"/>
                <a:cs typeface="Calibri" pitchFamily="34" charset="-120"/>
              </a:rPr>
              <a:t>Poker training is generic — vast theory libraries where players grind abstract spots, never the hands they actually misplay. Most can’t name the three decisions quietly costing them the most money, so they never fix them.</a:t>
            </a:r>
            <a:endParaRPr lang="en-US" sz="1050" dirty="0"/>
          </a:p>
        </p:txBody>
      </p:sp>
      <p:sp>
        <p:nvSpPr>
          <p:cNvPr id="9" name="Text 7"/>
          <p:cNvSpPr/>
          <p:nvPr/>
        </p:nvSpPr>
        <p:spPr>
          <a:xfrm>
            <a:off x="502920" y="3310128"/>
            <a:ext cx="4572000" cy="237744"/>
          </a:xfrm>
          <a:prstGeom prst="rect">
            <a:avLst/>
          </a:prstGeom>
          <a:noFill/>
          <a:ln/>
        </p:spPr>
        <p:txBody>
          <a:bodyPr wrap="square" lIns="0" tIns="0" rIns="0" bIns="0" rtlCol="0" anchor="ctr"/>
          <a:lstStyle/>
          <a:p>
            <a:pPr indent="0" marL="0">
              <a:buNone/>
            </a:pPr>
            <a:r>
              <a:rPr lang="en-US" sz="1050" b="1" spc="200" kern="0" dirty="0">
                <a:solidFill>
                  <a:srgbClr val="C2674A"/>
                </a:solidFill>
                <a:latin typeface="Calibri" pitchFamily="34" charset="0"/>
                <a:ea typeface="Calibri" pitchFamily="34" charset="-122"/>
                <a:cs typeface="Calibri" pitchFamily="34" charset="-120"/>
              </a:rPr>
              <a:t>THE SOLUTION</a:t>
            </a:r>
            <a:endParaRPr lang="en-US" sz="1050" dirty="0"/>
          </a:p>
        </p:txBody>
      </p:sp>
      <p:sp>
        <p:nvSpPr>
          <p:cNvPr id="10" name="Text 8"/>
          <p:cNvSpPr/>
          <p:nvPr/>
        </p:nvSpPr>
        <p:spPr>
          <a:xfrm>
            <a:off x="502920" y="3547872"/>
            <a:ext cx="6766560" cy="749808"/>
          </a:xfrm>
          <a:prstGeom prst="rect">
            <a:avLst/>
          </a:prstGeom>
          <a:noFill/>
          <a:ln/>
        </p:spPr>
        <p:txBody>
          <a:bodyPr wrap="square" lIns="0" tIns="0" rIns="0" bIns="0" rtlCol="0" anchor="t"/>
          <a:lstStyle/>
          <a:p>
            <a:pPr indent="0" marL="0">
              <a:lnSpc>
                <a:spcPct val="104000"/>
              </a:lnSpc>
              <a:buNone/>
            </a:pPr>
            <a:r>
              <a:rPr lang="en-US" sz="1050" dirty="0">
                <a:solidFill>
                  <a:srgbClr val="23201A"/>
                </a:solidFill>
                <a:latin typeface="Calibri" pitchFamily="34" charset="0"/>
                <a:ea typeface="Calibri" pitchFamily="34" charset="-122"/>
                <a:cs typeface="Calibri" pitchFamily="34" charset="-120"/>
              </a:rPr>
              <a:t>LeakTutor turns your own play into a fix-list: bring your hands (drill live or import a history) → see your top leaks, auto-detected → drill the exact fix, with a plain-English “why” on every hand. Not another spot library — a coach that knows your game.</a:t>
            </a:r>
            <a:endParaRPr lang="en-US" sz="1050" dirty="0"/>
          </a:p>
        </p:txBody>
      </p:sp>
      <p:sp>
        <p:nvSpPr>
          <p:cNvPr id="11" name="Text 9"/>
          <p:cNvSpPr/>
          <p:nvPr/>
        </p:nvSpPr>
        <p:spPr>
          <a:xfrm>
            <a:off x="502920" y="4498848"/>
            <a:ext cx="3200400" cy="237744"/>
          </a:xfrm>
          <a:prstGeom prst="rect">
            <a:avLst/>
          </a:prstGeom>
          <a:noFill/>
          <a:ln/>
        </p:spPr>
        <p:txBody>
          <a:bodyPr wrap="square" lIns="0" tIns="0" rIns="0" bIns="0" rtlCol="0" anchor="ctr"/>
          <a:lstStyle/>
          <a:p>
            <a:pPr indent="0" marL="0">
              <a:buNone/>
            </a:pPr>
            <a:r>
              <a:rPr lang="en-US" sz="1050" b="1" spc="200" kern="0" dirty="0">
                <a:solidFill>
                  <a:srgbClr val="C2674A"/>
                </a:solidFill>
                <a:latin typeface="Calibri" pitchFamily="34" charset="0"/>
                <a:ea typeface="Calibri" pitchFamily="34" charset="-122"/>
                <a:cs typeface="Calibri" pitchFamily="34" charset="-120"/>
              </a:rPr>
              <a:t>WHY IT’S DEFENSIBLE</a:t>
            </a:r>
            <a:endParaRPr lang="en-US" sz="1050" dirty="0"/>
          </a:p>
        </p:txBody>
      </p:sp>
      <p:sp>
        <p:nvSpPr>
          <p:cNvPr id="12" name="Text 10"/>
          <p:cNvSpPr/>
          <p:nvPr/>
        </p:nvSpPr>
        <p:spPr>
          <a:xfrm>
            <a:off x="502920" y="4736592"/>
            <a:ext cx="3200400" cy="1371600"/>
          </a:xfrm>
          <a:prstGeom prst="rect">
            <a:avLst/>
          </a:prstGeom>
          <a:noFill/>
          <a:ln/>
        </p:spPr>
        <p:txBody>
          <a:bodyPr wrap="square" lIns="0" tIns="0" rIns="0" bIns="0" rtlCol="0" anchor="t"/>
          <a:lstStyle/>
          <a:p>
            <a:pPr marL="152400" indent="-152400">
              <a:spcAft>
                <a:spcPts val="400"/>
              </a:spcAft>
              <a:buSzPct val="100000"/>
              <a:buChar char="•"/>
            </a:pPr>
            <a:r>
              <a:rPr lang="en-US" sz="1050" dirty="0">
                <a:solidFill>
                  <a:srgbClr val="23201A"/>
                </a:solidFill>
                <a:latin typeface="Calibri" pitchFamily="34" charset="0"/>
                <a:ea typeface="Calibri" pitchFamily="34" charset="-122"/>
                <a:cs typeface="Calibri" pitchFamily="34" charset="-120"/>
              </a:rPr>
              <a:t>Real solver strategy (open-source TexasSolver), precomputed &amp; offline — credible GTO at zero server cost.</a:t>
            </a:r>
            <a:endParaRPr lang="en-US" sz="1050" dirty="0"/>
          </a:p>
          <a:p>
            <a:pPr marL="152400" indent="-152400">
              <a:spcAft>
                <a:spcPts val="400"/>
              </a:spcAft>
              <a:buSzPct val="100000"/>
              <a:buChar char="•"/>
            </a:pPr>
            <a:r>
              <a:rPr lang="en-US" sz="1050" dirty="0">
                <a:solidFill>
                  <a:srgbClr val="23201A"/>
                </a:solidFill>
                <a:latin typeface="Calibri" pitchFamily="34" charset="0"/>
                <a:ea typeface="Calibri" pitchFamily="34" charset="-122"/>
                <a:cs typeface="Calibri" pitchFamily="34" charset="-120"/>
              </a:rPr>
              <a:t>Leak detection → targeted drilling: the personalization wedge incumbents don’t nail.</a:t>
            </a:r>
            <a:endParaRPr lang="en-US" sz="1050" dirty="0"/>
          </a:p>
          <a:p>
            <a:pPr marL="152400" indent="-152400">
              <a:spcAft>
                <a:spcPts val="400"/>
              </a:spcAft>
              <a:buSzPct val="100000"/>
              <a:buChar char="•"/>
            </a:pPr>
            <a:r>
              <a:rPr lang="en-US" sz="1050" dirty="0">
                <a:solidFill>
                  <a:srgbClr val="23201A"/>
                </a:solidFill>
                <a:latin typeface="Calibri" pitchFamily="34" charset="0"/>
                <a:ea typeface="Calibri" pitchFamily="34" charset="-122"/>
                <a:cs typeface="Calibri" pitchFamily="34" charset="-120"/>
              </a:rPr>
              <a:t>Installable PWA + beginner→intermediate path widens the funnel beyond grinders.</a:t>
            </a:r>
            <a:endParaRPr lang="en-US" sz="1050" dirty="0"/>
          </a:p>
        </p:txBody>
      </p:sp>
      <p:sp>
        <p:nvSpPr>
          <p:cNvPr id="13" name="Text 11"/>
          <p:cNvSpPr/>
          <p:nvPr/>
        </p:nvSpPr>
        <p:spPr>
          <a:xfrm>
            <a:off x="4069080" y="4498848"/>
            <a:ext cx="3200400" cy="237744"/>
          </a:xfrm>
          <a:prstGeom prst="rect">
            <a:avLst/>
          </a:prstGeom>
          <a:noFill/>
          <a:ln/>
        </p:spPr>
        <p:txBody>
          <a:bodyPr wrap="square" lIns="0" tIns="0" rIns="0" bIns="0" rtlCol="0" anchor="ctr"/>
          <a:lstStyle/>
          <a:p>
            <a:pPr indent="0" marL="0">
              <a:buNone/>
            </a:pPr>
            <a:r>
              <a:rPr lang="en-US" sz="1050" b="1" spc="200" kern="0" dirty="0">
                <a:solidFill>
                  <a:srgbClr val="C2674A"/>
                </a:solidFill>
                <a:latin typeface="Calibri" pitchFamily="34" charset="0"/>
                <a:ea typeface="Calibri" pitchFamily="34" charset="-122"/>
                <a:cs typeface="Calibri" pitchFamily="34" charset="-120"/>
              </a:rPr>
              <a:t>PRODUCT — BUILT &amp; LIVE</a:t>
            </a:r>
            <a:endParaRPr lang="en-US" sz="1050" dirty="0"/>
          </a:p>
        </p:txBody>
      </p:sp>
      <p:sp>
        <p:nvSpPr>
          <p:cNvPr id="14" name="Text 12"/>
          <p:cNvSpPr/>
          <p:nvPr/>
        </p:nvSpPr>
        <p:spPr>
          <a:xfrm>
            <a:off x="4069080" y="4736592"/>
            <a:ext cx="3200400" cy="1371600"/>
          </a:xfrm>
          <a:prstGeom prst="rect">
            <a:avLst/>
          </a:prstGeom>
          <a:noFill/>
          <a:ln/>
        </p:spPr>
        <p:txBody>
          <a:bodyPr wrap="square" lIns="0" tIns="0" rIns="0" bIns="0" rtlCol="0" anchor="t"/>
          <a:lstStyle/>
          <a:p>
            <a:pPr marL="152400" indent="-152400">
              <a:spcAft>
                <a:spcPts val="400"/>
              </a:spcAft>
              <a:buSzPct val="100000"/>
              <a:buChar char="•"/>
            </a:pPr>
            <a:r>
              <a:rPr lang="en-US" sz="1050" dirty="0">
                <a:solidFill>
                  <a:srgbClr val="23201A"/>
                </a:solidFill>
                <a:latin typeface="Calibri" pitchFamily="34" charset="0"/>
                <a:ea typeface="Calibri" pitchFamily="34" charset="-122"/>
                <a:cs typeface="Calibri" pitchFamily="34" charset="-120"/>
              </a:rPr>
              <a:t>GTO-correct scoring, incl. mixed frequencies.</a:t>
            </a:r>
            <a:endParaRPr lang="en-US" sz="1050" dirty="0"/>
          </a:p>
          <a:p>
            <a:pPr marL="152400" indent="-152400">
              <a:spcAft>
                <a:spcPts val="400"/>
              </a:spcAft>
              <a:buSzPct val="100000"/>
              <a:buChar char="•"/>
            </a:pPr>
            <a:r>
              <a:rPr lang="en-US" sz="1050" dirty="0">
                <a:solidFill>
                  <a:srgbClr val="23201A"/>
                </a:solidFill>
                <a:latin typeface="Calibri" pitchFamily="34" charset="0"/>
                <a:ea typeface="Calibri" pitchFamily="34" charset="-122"/>
                <a:cs typeface="Calibri" pitchFamily="34" charset="-120"/>
              </a:rPr>
              <a:t>Plain-English explanations on every hand.</a:t>
            </a:r>
            <a:endParaRPr lang="en-US" sz="1050" dirty="0"/>
          </a:p>
          <a:p>
            <a:pPr marL="152400" indent="-152400">
              <a:spcAft>
                <a:spcPts val="400"/>
              </a:spcAft>
              <a:buSzPct val="100000"/>
              <a:buChar char="•"/>
            </a:pPr>
            <a:r>
              <a:rPr lang="en-US" sz="1050" dirty="0">
                <a:solidFill>
                  <a:srgbClr val="23201A"/>
                </a:solidFill>
                <a:latin typeface="Calibri" pitchFamily="34" charset="0"/>
                <a:ea typeface="Calibri" pitchFamily="34" charset="-122"/>
                <a:cs typeface="Calibri" pitchFamily="34" charset="-120"/>
              </a:rPr>
              <a:t>Auto leak tracker → one-tap targeted drills.</a:t>
            </a:r>
            <a:endParaRPr lang="en-US" sz="1050" dirty="0"/>
          </a:p>
          <a:p>
            <a:pPr marL="152400" indent="-152400">
              <a:spcAft>
                <a:spcPts val="400"/>
              </a:spcAft>
              <a:buSzPct val="100000"/>
              <a:buChar char="•"/>
            </a:pPr>
            <a:r>
              <a:rPr lang="en-US" sz="1050" dirty="0">
                <a:solidFill>
                  <a:srgbClr val="23201A"/>
                </a:solidFill>
                <a:latin typeface="Calibri" pitchFamily="34" charset="0"/>
                <a:ea typeface="Calibri" pitchFamily="34" charset="-122"/>
                <a:cs typeface="Calibri" pitchFamily="34" charset="-120"/>
              </a:rPr>
              <a:t>Spaced-repetition review + daily streaks.</a:t>
            </a:r>
            <a:endParaRPr lang="en-US" sz="1050" dirty="0"/>
          </a:p>
        </p:txBody>
      </p:sp>
      <p:sp>
        <p:nvSpPr>
          <p:cNvPr id="15" name="Text 13"/>
          <p:cNvSpPr/>
          <p:nvPr/>
        </p:nvSpPr>
        <p:spPr>
          <a:xfrm>
            <a:off x="502920" y="6355080"/>
            <a:ext cx="5486400" cy="237744"/>
          </a:xfrm>
          <a:prstGeom prst="rect">
            <a:avLst/>
          </a:prstGeom>
          <a:noFill/>
          <a:ln/>
        </p:spPr>
        <p:txBody>
          <a:bodyPr wrap="square" lIns="0" tIns="0" rIns="0" bIns="0" rtlCol="0" anchor="ctr"/>
          <a:lstStyle/>
          <a:p>
            <a:pPr indent="0" marL="0">
              <a:buNone/>
            </a:pPr>
            <a:r>
              <a:rPr lang="en-US" sz="1050" b="1" spc="200" kern="0" dirty="0">
                <a:solidFill>
                  <a:srgbClr val="C2674A"/>
                </a:solidFill>
                <a:latin typeface="Calibri" pitchFamily="34" charset="0"/>
                <a:ea typeface="Calibri" pitchFamily="34" charset="-122"/>
                <a:cs typeface="Calibri" pitchFamily="34" charset="-120"/>
              </a:rPr>
              <a:t>MARKET &amp; MODEL</a:t>
            </a:r>
            <a:endParaRPr lang="en-US" sz="1050" dirty="0"/>
          </a:p>
        </p:txBody>
      </p:sp>
      <p:sp>
        <p:nvSpPr>
          <p:cNvPr id="16" name="Text 14"/>
          <p:cNvSpPr/>
          <p:nvPr/>
        </p:nvSpPr>
        <p:spPr>
          <a:xfrm>
            <a:off x="502920" y="6592824"/>
            <a:ext cx="6766560" cy="822960"/>
          </a:xfrm>
          <a:prstGeom prst="rect">
            <a:avLst/>
          </a:prstGeom>
          <a:noFill/>
          <a:ln/>
        </p:spPr>
        <p:txBody>
          <a:bodyPr wrap="square" lIns="0" tIns="0" rIns="0" bIns="0" rtlCol="0" anchor="t"/>
          <a:lstStyle/>
          <a:p>
            <a:pPr indent="0" marL="0">
              <a:lnSpc>
                <a:spcPct val="104000"/>
              </a:lnSpc>
              <a:buNone/>
            </a:pPr>
            <a:r>
              <a:rPr lang="en-US" sz="1050" dirty="0">
                <a:solidFill>
                  <a:srgbClr val="23201A"/>
                </a:solidFill>
                <a:latin typeface="Calibri" pitchFamily="34" charset="0"/>
                <a:ea typeface="Calibri" pitchFamily="34" charset="-122"/>
                <a:cs typeface="Calibri" pitchFamily="34" charset="-120"/>
              </a:rPr>
              <a:t>100M+ people play online poker; open-source solvers make credible content cheap; PWAs unlock mobile-first training. Freemium: free preflop + leak tracking; premium adds the full postflop corpus + bet-sizing, unlimited imports + postflop leak reports, and cloud sync. Content is solved once and reused forever → marginal cost per user ≈ $0.</a:t>
            </a:r>
            <a:endParaRPr lang="en-US" sz="1050" dirty="0"/>
          </a:p>
        </p:txBody>
      </p:sp>
      <p:sp>
        <p:nvSpPr>
          <p:cNvPr id="17" name="Shape 15"/>
          <p:cNvSpPr/>
          <p:nvPr/>
        </p:nvSpPr>
        <p:spPr>
          <a:xfrm>
            <a:off x="502920" y="7498080"/>
            <a:ext cx="1485900" cy="713232"/>
          </a:xfrm>
          <a:prstGeom prst="rect">
            <a:avLst/>
          </a:prstGeom>
          <a:solidFill>
            <a:srgbClr val="FFFFFF"/>
          </a:solidFill>
          <a:ln/>
          <a:effectLst>
            <a:outerShdw sx="100000" sy="100000" kx="0" ky="0" algn="bl" rotWithShape="0" blurRad="88900" dist="25400" dir="8100000">
              <a:srgbClr val="000000">
                <a:alpha val="16000"/>
              </a:srgbClr>
            </a:outerShdw>
          </a:effectLst>
        </p:spPr>
      </p:sp>
      <p:sp>
        <p:nvSpPr>
          <p:cNvPr id="18" name="Text 16"/>
          <p:cNvSpPr/>
          <p:nvPr/>
        </p:nvSpPr>
        <p:spPr>
          <a:xfrm>
            <a:off x="502920" y="7571232"/>
            <a:ext cx="1485900" cy="384048"/>
          </a:xfrm>
          <a:prstGeom prst="rect">
            <a:avLst/>
          </a:prstGeom>
          <a:noFill/>
          <a:ln/>
        </p:spPr>
        <p:txBody>
          <a:bodyPr wrap="square" lIns="0" tIns="0" rIns="0" bIns="0" rtlCol="0" anchor="ctr"/>
          <a:lstStyle/>
          <a:p>
            <a:pPr algn="ctr" indent="0" marL="0">
              <a:buNone/>
            </a:pPr>
            <a:r>
              <a:rPr lang="en-US" sz="2100" b="1" dirty="0">
                <a:solidFill>
                  <a:srgbClr val="C2674A"/>
                </a:solidFill>
                <a:latin typeface="Georgia" pitchFamily="34" charset="0"/>
                <a:ea typeface="Georgia" pitchFamily="34" charset="-122"/>
                <a:cs typeface="Georgia" pitchFamily="34" charset="-120"/>
              </a:rPr>
              <a:t>Live</a:t>
            </a:r>
            <a:endParaRPr lang="en-US" sz="2100" dirty="0"/>
          </a:p>
        </p:txBody>
      </p:sp>
      <p:sp>
        <p:nvSpPr>
          <p:cNvPr id="19" name="Text 17"/>
          <p:cNvSpPr/>
          <p:nvPr/>
        </p:nvSpPr>
        <p:spPr>
          <a:xfrm>
            <a:off x="502920" y="7936992"/>
            <a:ext cx="1485900" cy="237744"/>
          </a:xfrm>
          <a:prstGeom prst="rect">
            <a:avLst/>
          </a:prstGeom>
          <a:noFill/>
          <a:ln/>
        </p:spPr>
        <p:txBody>
          <a:bodyPr wrap="square" lIns="0" tIns="0" rIns="0" bIns="0" rtlCol="0" anchor="ctr"/>
          <a:lstStyle/>
          <a:p>
            <a:pPr algn="ctr" indent="0" marL="0">
              <a:buNone/>
            </a:pPr>
            <a:r>
              <a:rPr lang="en-US" sz="900" dirty="0">
                <a:solidFill>
                  <a:srgbClr val="6E6552"/>
                </a:solidFill>
                <a:latin typeface="Calibri" pitchFamily="34" charset="0"/>
                <a:ea typeface="Calibri" pitchFamily="34" charset="-122"/>
                <a:cs typeface="Calibri" pitchFamily="34" charset="-120"/>
              </a:rPr>
              <a:t>PWA shipped</a:t>
            </a:r>
            <a:endParaRPr lang="en-US" sz="900" dirty="0"/>
          </a:p>
        </p:txBody>
      </p:sp>
      <p:sp>
        <p:nvSpPr>
          <p:cNvPr id="20" name="Shape 18"/>
          <p:cNvSpPr/>
          <p:nvPr/>
        </p:nvSpPr>
        <p:spPr>
          <a:xfrm>
            <a:off x="2263140" y="7498080"/>
            <a:ext cx="1485900" cy="713232"/>
          </a:xfrm>
          <a:prstGeom prst="rect">
            <a:avLst/>
          </a:prstGeom>
          <a:solidFill>
            <a:srgbClr val="FFFFFF"/>
          </a:solidFill>
          <a:ln/>
          <a:effectLst>
            <a:outerShdw sx="100000" sy="100000" kx="0" ky="0" algn="bl" rotWithShape="0" blurRad="88900" dist="25400" dir="8100000">
              <a:srgbClr val="000000">
                <a:alpha val="16000"/>
              </a:srgbClr>
            </a:outerShdw>
          </a:effectLst>
        </p:spPr>
      </p:sp>
      <p:sp>
        <p:nvSpPr>
          <p:cNvPr id="21" name="Text 19"/>
          <p:cNvSpPr/>
          <p:nvPr/>
        </p:nvSpPr>
        <p:spPr>
          <a:xfrm>
            <a:off x="2263140" y="7571232"/>
            <a:ext cx="1485900" cy="384048"/>
          </a:xfrm>
          <a:prstGeom prst="rect">
            <a:avLst/>
          </a:prstGeom>
          <a:noFill/>
          <a:ln/>
        </p:spPr>
        <p:txBody>
          <a:bodyPr wrap="square" lIns="0" tIns="0" rIns="0" bIns="0" rtlCol="0" anchor="ctr"/>
          <a:lstStyle/>
          <a:p>
            <a:pPr algn="ctr" indent="0" marL="0">
              <a:buNone/>
            </a:pPr>
            <a:r>
              <a:rPr lang="en-US" sz="2100" b="1" dirty="0">
                <a:solidFill>
                  <a:srgbClr val="C2674A"/>
                </a:solidFill>
                <a:latin typeface="Georgia" pitchFamily="34" charset="0"/>
                <a:ea typeface="Georgia" pitchFamily="34" charset="-122"/>
                <a:cs typeface="Georgia" pitchFamily="34" charset="-120"/>
              </a:rPr>
              <a:t>4</a:t>
            </a:r>
            <a:endParaRPr lang="en-US" sz="2100" dirty="0"/>
          </a:p>
        </p:txBody>
      </p:sp>
      <p:sp>
        <p:nvSpPr>
          <p:cNvPr id="22" name="Text 20"/>
          <p:cNvSpPr/>
          <p:nvPr/>
        </p:nvSpPr>
        <p:spPr>
          <a:xfrm>
            <a:off x="2263140" y="7936992"/>
            <a:ext cx="1485900" cy="237744"/>
          </a:xfrm>
          <a:prstGeom prst="rect">
            <a:avLst/>
          </a:prstGeom>
          <a:noFill/>
          <a:ln/>
        </p:spPr>
        <p:txBody>
          <a:bodyPr wrap="square" lIns="0" tIns="0" rIns="0" bIns="0" rtlCol="0" anchor="ctr"/>
          <a:lstStyle/>
          <a:p>
            <a:pPr algn="ctr" indent="0" marL="0">
              <a:buNone/>
            </a:pPr>
            <a:r>
              <a:rPr lang="en-US" sz="900" dirty="0">
                <a:solidFill>
                  <a:srgbClr val="6E6552"/>
                </a:solidFill>
                <a:latin typeface="Calibri" pitchFamily="34" charset="0"/>
                <a:ea typeface="Calibri" pitchFamily="34" charset="-122"/>
                <a:cs typeface="Calibri" pitchFamily="34" charset="-120"/>
              </a:rPr>
              <a:t>drill modes</a:t>
            </a:r>
            <a:endParaRPr lang="en-US" sz="900" dirty="0"/>
          </a:p>
        </p:txBody>
      </p:sp>
      <p:sp>
        <p:nvSpPr>
          <p:cNvPr id="23" name="Shape 21"/>
          <p:cNvSpPr/>
          <p:nvPr/>
        </p:nvSpPr>
        <p:spPr>
          <a:xfrm>
            <a:off x="4023360" y="7498080"/>
            <a:ext cx="1485900" cy="713232"/>
          </a:xfrm>
          <a:prstGeom prst="rect">
            <a:avLst/>
          </a:prstGeom>
          <a:solidFill>
            <a:srgbClr val="FFFFFF"/>
          </a:solidFill>
          <a:ln/>
          <a:effectLst>
            <a:outerShdw sx="100000" sy="100000" kx="0" ky="0" algn="bl" rotWithShape="0" blurRad="88900" dist="25400" dir="8100000">
              <a:srgbClr val="000000">
                <a:alpha val="16000"/>
              </a:srgbClr>
            </a:outerShdw>
          </a:effectLst>
        </p:spPr>
      </p:sp>
      <p:sp>
        <p:nvSpPr>
          <p:cNvPr id="24" name="Text 22"/>
          <p:cNvSpPr/>
          <p:nvPr/>
        </p:nvSpPr>
        <p:spPr>
          <a:xfrm>
            <a:off x="4023360" y="7571232"/>
            <a:ext cx="1485900" cy="384048"/>
          </a:xfrm>
          <a:prstGeom prst="rect">
            <a:avLst/>
          </a:prstGeom>
          <a:noFill/>
          <a:ln/>
        </p:spPr>
        <p:txBody>
          <a:bodyPr wrap="square" lIns="0" tIns="0" rIns="0" bIns="0" rtlCol="0" anchor="ctr"/>
          <a:lstStyle/>
          <a:p>
            <a:pPr algn="ctr" indent="0" marL="0">
              <a:buNone/>
            </a:pPr>
            <a:r>
              <a:rPr lang="en-US" sz="2100" b="1" dirty="0">
                <a:solidFill>
                  <a:srgbClr val="C2674A"/>
                </a:solidFill>
                <a:latin typeface="Georgia" pitchFamily="34" charset="0"/>
                <a:ea typeface="Georgia" pitchFamily="34" charset="-122"/>
                <a:cs typeface="Georgia" pitchFamily="34" charset="-120"/>
              </a:rPr>
              <a:t>Real</a:t>
            </a:r>
            <a:endParaRPr lang="en-US" sz="2100" dirty="0"/>
          </a:p>
        </p:txBody>
      </p:sp>
      <p:sp>
        <p:nvSpPr>
          <p:cNvPr id="25" name="Text 23"/>
          <p:cNvSpPr/>
          <p:nvPr/>
        </p:nvSpPr>
        <p:spPr>
          <a:xfrm>
            <a:off x="4023360" y="7936992"/>
            <a:ext cx="1485900" cy="237744"/>
          </a:xfrm>
          <a:prstGeom prst="rect">
            <a:avLst/>
          </a:prstGeom>
          <a:noFill/>
          <a:ln/>
        </p:spPr>
        <p:txBody>
          <a:bodyPr wrap="square" lIns="0" tIns="0" rIns="0" bIns="0" rtlCol="0" anchor="ctr"/>
          <a:lstStyle/>
          <a:p>
            <a:pPr algn="ctr" indent="0" marL="0">
              <a:buNone/>
            </a:pPr>
            <a:r>
              <a:rPr lang="en-US" sz="900" dirty="0">
                <a:solidFill>
                  <a:srgbClr val="6E6552"/>
                </a:solidFill>
                <a:latin typeface="Calibri" pitchFamily="34" charset="0"/>
                <a:ea typeface="Calibri" pitchFamily="34" charset="-122"/>
                <a:cs typeface="Calibri" pitchFamily="34" charset="-120"/>
              </a:rPr>
              <a:t>solver data</a:t>
            </a:r>
            <a:endParaRPr lang="en-US" sz="900" dirty="0"/>
          </a:p>
        </p:txBody>
      </p:sp>
      <p:sp>
        <p:nvSpPr>
          <p:cNvPr id="26" name="Shape 24"/>
          <p:cNvSpPr/>
          <p:nvPr/>
        </p:nvSpPr>
        <p:spPr>
          <a:xfrm>
            <a:off x="5783580" y="7498080"/>
            <a:ext cx="1485900" cy="713232"/>
          </a:xfrm>
          <a:prstGeom prst="rect">
            <a:avLst/>
          </a:prstGeom>
          <a:solidFill>
            <a:srgbClr val="FFFFFF"/>
          </a:solidFill>
          <a:ln/>
          <a:effectLst>
            <a:outerShdw sx="100000" sy="100000" kx="0" ky="0" algn="bl" rotWithShape="0" blurRad="88900" dist="25400" dir="8100000">
              <a:srgbClr val="000000">
                <a:alpha val="16000"/>
              </a:srgbClr>
            </a:outerShdw>
          </a:effectLst>
        </p:spPr>
      </p:sp>
      <p:sp>
        <p:nvSpPr>
          <p:cNvPr id="27" name="Text 25"/>
          <p:cNvSpPr/>
          <p:nvPr/>
        </p:nvSpPr>
        <p:spPr>
          <a:xfrm>
            <a:off x="5783580" y="7571232"/>
            <a:ext cx="1485900" cy="384048"/>
          </a:xfrm>
          <a:prstGeom prst="rect">
            <a:avLst/>
          </a:prstGeom>
          <a:noFill/>
          <a:ln/>
        </p:spPr>
        <p:txBody>
          <a:bodyPr wrap="square" lIns="0" tIns="0" rIns="0" bIns="0" rtlCol="0" anchor="ctr"/>
          <a:lstStyle/>
          <a:p>
            <a:pPr algn="ctr" indent="0" marL="0">
              <a:buNone/>
            </a:pPr>
            <a:r>
              <a:rPr lang="en-US" sz="2100" b="1" dirty="0">
                <a:solidFill>
                  <a:srgbClr val="C2674A"/>
                </a:solidFill>
                <a:latin typeface="Georgia" pitchFamily="34" charset="0"/>
                <a:ea typeface="Georgia" pitchFamily="34" charset="-122"/>
                <a:cs typeface="Georgia" pitchFamily="34" charset="-120"/>
              </a:rPr>
              <a:t>100%</a:t>
            </a:r>
            <a:endParaRPr lang="en-US" sz="2100" dirty="0"/>
          </a:p>
        </p:txBody>
      </p:sp>
      <p:sp>
        <p:nvSpPr>
          <p:cNvPr id="28" name="Text 26"/>
          <p:cNvSpPr/>
          <p:nvPr/>
        </p:nvSpPr>
        <p:spPr>
          <a:xfrm>
            <a:off x="5783580" y="7936992"/>
            <a:ext cx="1485900" cy="237744"/>
          </a:xfrm>
          <a:prstGeom prst="rect">
            <a:avLst/>
          </a:prstGeom>
          <a:noFill/>
          <a:ln/>
        </p:spPr>
        <p:txBody>
          <a:bodyPr wrap="square" lIns="0" tIns="0" rIns="0" bIns="0" rtlCol="0" anchor="ctr"/>
          <a:lstStyle/>
          <a:p>
            <a:pPr algn="ctr" indent="0" marL="0">
              <a:buNone/>
            </a:pPr>
            <a:r>
              <a:rPr lang="en-US" sz="900" dirty="0">
                <a:solidFill>
                  <a:srgbClr val="6E6552"/>
                </a:solidFill>
                <a:latin typeface="Calibri" pitchFamily="34" charset="0"/>
                <a:ea typeface="Calibri" pitchFamily="34" charset="-122"/>
                <a:cs typeface="Calibri" pitchFamily="34" charset="-120"/>
              </a:rPr>
              <a:t>offline</a:t>
            </a:r>
            <a:endParaRPr lang="en-US" sz="900" dirty="0"/>
          </a:p>
        </p:txBody>
      </p:sp>
      <p:sp>
        <p:nvSpPr>
          <p:cNvPr id="29" name="Shape 27"/>
          <p:cNvSpPr/>
          <p:nvPr/>
        </p:nvSpPr>
        <p:spPr>
          <a:xfrm>
            <a:off x="502920" y="8412480"/>
            <a:ext cx="6766560" cy="1051560"/>
          </a:xfrm>
          <a:prstGeom prst="rect">
            <a:avLst/>
          </a:prstGeom>
          <a:solidFill>
            <a:srgbClr val="173129"/>
          </a:solidFill>
          <a:ln/>
          <a:effectLst>
            <a:outerShdw sx="100000" sy="100000" kx="0" ky="0" algn="bl" rotWithShape="0" blurRad="88900" dist="25400" dir="8100000">
              <a:srgbClr val="000000">
                <a:alpha val="16000"/>
              </a:srgbClr>
            </a:outerShdw>
          </a:effectLst>
        </p:spPr>
      </p:sp>
      <p:sp>
        <p:nvSpPr>
          <p:cNvPr id="30" name="Shape 28"/>
          <p:cNvSpPr/>
          <p:nvPr/>
        </p:nvSpPr>
        <p:spPr>
          <a:xfrm>
            <a:off x="502920" y="8412480"/>
            <a:ext cx="91440" cy="1051560"/>
          </a:xfrm>
          <a:prstGeom prst="rect">
            <a:avLst/>
          </a:prstGeom>
          <a:solidFill>
            <a:srgbClr val="D7A24B"/>
          </a:solidFill>
          <a:ln/>
        </p:spPr>
      </p:sp>
      <p:sp>
        <p:nvSpPr>
          <p:cNvPr id="31" name="Text 29"/>
          <p:cNvSpPr/>
          <p:nvPr/>
        </p:nvSpPr>
        <p:spPr>
          <a:xfrm>
            <a:off x="822960" y="8540496"/>
            <a:ext cx="3657600" cy="274320"/>
          </a:xfrm>
          <a:prstGeom prst="rect">
            <a:avLst/>
          </a:prstGeom>
          <a:noFill/>
          <a:ln/>
        </p:spPr>
        <p:txBody>
          <a:bodyPr wrap="square" lIns="0" tIns="0" rIns="0" bIns="0" rtlCol="0" anchor="ctr"/>
          <a:lstStyle/>
          <a:p>
            <a:pPr indent="0" marL="0">
              <a:buNone/>
            </a:pPr>
            <a:r>
              <a:rPr lang="en-US" sz="1100" b="1" spc="100" kern="0" dirty="0">
                <a:solidFill>
                  <a:srgbClr val="D7A24B"/>
                </a:solidFill>
                <a:latin typeface="Calibri" pitchFamily="34" charset="0"/>
                <a:ea typeface="Calibri" pitchFamily="34" charset="-122"/>
                <a:cs typeface="Calibri" pitchFamily="34" charset="-120"/>
              </a:rPr>
              <a:t>THE ASK   </a:t>
            </a:r>
            <a:endParaRPr lang="en-US" sz="1100" dirty="0"/>
          </a:p>
        </p:txBody>
      </p:sp>
      <p:sp>
        <p:nvSpPr>
          <p:cNvPr id="32" name="Text 30"/>
          <p:cNvSpPr/>
          <p:nvPr/>
        </p:nvSpPr>
        <p:spPr>
          <a:xfrm>
            <a:off x="822960" y="8814816"/>
            <a:ext cx="6126480" cy="603504"/>
          </a:xfrm>
          <a:prstGeom prst="rect">
            <a:avLst/>
          </a:prstGeom>
          <a:noFill/>
          <a:ln/>
        </p:spPr>
        <p:txBody>
          <a:bodyPr wrap="square" lIns="0" tIns="0" rIns="0" bIns="0" rtlCol="0" anchor="t"/>
          <a:lstStyle/>
          <a:p>
            <a:pPr indent="0" marL="0">
              <a:lnSpc>
                <a:spcPct val="104000"/>
              </a:lnSpc>
              <a:buNone/>
            </a:pPr>
            <a:r>
              <a:rPr lang="en-US" sz="1100" b="1" dirty="0">
                <a:solidFill>
                  <a:srgbClr val="F4EFE4"/>
                </a:solidFill>
                <a:latin typeface="Calibri" pitchFamily="34" charset="0"/>
                <a:ea typeface="Calibri" pitchFamily="34" charset="-122"/>
                <a:cs typeface="Calibri" pitchFamily="34" charset="-120"/>
              </a:rPr>
              <a:t>Raising $[ — ] (pre-seed)</a:t>
            </a:r>
            <a:pPr indent="0" marL="0">
              <a:lnSpc>
                <a:spcPct val="104000"/>
              </a:lnSpc>
              <a:buNone/>
            </a:pPr>
            <a:r>
              <a:rPr lang="en-US" sz="1100" dirty="0">
                <a:solidFill>
                  <a:srgbClr val="C9BCA0"/>
                </a:solidFill>
                <a:latin typeface="Calibri" pitchFamily="34" charset="0"/>
                <a:ea typeface="Calibri" pitchFamily="34" charset="-122"/>
                <a:cs typeface="Calibri" pitchFamily="34" charset="-120"/>
              </a:rPr>
              <a:t> to fund content depth (~45%), growth (~35%) and team (~20%). Milestones: launch premium, reach [ — ] active users, prove monthly retention.</a:t>
            </a:r>
            <a:endParaRPr lang="en-US" sz="1100" dirty="0"/>
          </a:p>
        </p:txBody>
      </p:sp>
      <p:sp>
        <p:nvSpPr>
          <p:cNvPr id="33" name="Text 31"/>
          <p:cNvSpPr/>
          <p:nvPr/>
        </p:nvSpPr>
        <p:spPr>
          <a:xfrm>
            <a:off x="502920" y="9601200"/>
            <a:ext cx="6766560" cy="274320"/>
          </a:xfrm>
          <a:prstGeom prst="rect">
            <a:avLst/>
          </a:prstGeom>
          <a:noFill/>
          <a:ln/>
        </p:spPr>
        <p:txBody>
          <a:bodyPr wrap="square" lIns="0" tIns="0" rIns="0" bIns="0" rtlCol="0" anchor="ctr"/>
          <a:lstStyle/>
          <a:p>
            <a:pPr algn="ctr" indent="0" marL="0">
              <a:buNone/>
            </a:pPr>
            <a:r>
              <a:rPr lang="en-US" sz="1000" b="1" dirty="0">
                <a:solidFill>
                  <a:srgbClr val="40543F"/>
                </a:solidFill>
                <a:latin typeface="Calibri" pitchFamily="34" charset="0"/>
                <a:ea typeface="Calibri" pitchFamily="34" charset="-122"/>
                <a:cs typeface="Calibri" pitchFamily="34" charset="-120"/>
              </a:rPr>
              <a:t>daniel-willoughby.github.io/GTO-leak-fixer</a:t>
            </a:r>
            <a:pPr algn="ctr" indent="0" marL="0">
              <a:buNone/>
            </a:pPr>
            <a:r>
              <a:rPr lang="en-US" sz="1000" dirty="0">
                <a:solidFill>
                  <a:srgbClr val="6E6552"/>
                </a:solidFill>
                <a:latin typeface="Calibri" pitchFamily="34" charset="0"/>
                <a:ea typeface="Calibri" pitchFamily="34" charset="-122"/>
                <a:cs typeface="Calibri" pitchFamily="34" charset="-120"/>
              </a:rPr>
              <a:t>     ·     [ Founder name · email · phone ]</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LeakTutor — Investor One-Pager</dc:title>
  <dc:subject>PptxGenJS Presentation</dc:subject>
  <dc:creator>LeakTutor</dc:creator>
  <cp:lastModifiedBy>LeakTutor</cp:lastModifiedBy>
  <cp:revision>1</cp:revision>
  <dcterms:created xsi:type="dcterms:W3CDTF">2026-06-09T15:34:02Z</dcterms:created>
  <dcterms:modified xsi:type="dcterms:W3CDTF">2026-06-09T15:34:02Z</dcterms:modified>
</cp:coreProperties>
</file>