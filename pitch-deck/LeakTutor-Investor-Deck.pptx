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0" y="457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F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 ♥   ♦   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♠  </a:t>
            </a:r>
            <a:pPr indent="0" marL="0">
              <a:buNone/>
            </a:pPr>
            <a:r>
              <a:rPr lang="en-US" sz="22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LeakTutor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the leaks that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you the pot.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GTO poker trainer that finds your specific mistakes — and drills them away. Live, installable, fully offline.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5394960"/>
            <a:ext cx="2743200" cy="36576"/>
          </a:xfrm>
          <a:prstGeom prst="rect">
            <a:avLst/>
          </a:prstGeom>
          <a:solidFill>
            <a:srgbClr val="D7A24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daniel-willoughby.github.io/GTO-leak-fixer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Players study endlessly — and bleed the same spots.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868680" cy="868680"/>
          </a:xfrm>
          <a:prstGeom prst="ellipse">
            <a:avLst/>
          </a:prstGeom>
          <a:solidFill>
            <a:srgbClr val="C2674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624" y="2383384"/>
            <a:ext cx="399593" cy="399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122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is generic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569464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tools are vast theory libraries. You grind abstract spots — never the hands you actually misplay.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566160"/>
            <a:ext cx="868680" cy="868680"/>
          </a:xfrm>
          <a:prstGeom prst="ellipse">
            <a:avLst/>
          </a:prstGeom>
          <a:solidFill>
            <a:srgbClr val="C2674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3800704"/>
            <a:ext cx="399593" cy="3995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5295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feedback loop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783080" y="3986784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players can’t name the three decisions quietly costing them the most money. So they never fix them.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983480"/>
            <a:ext cx="868680" cy="868680"/>
          </a:xfrm>
          <a:prstGeom prst="ellipse">
            <a:avLst/>
          </a:prstGeom>
          <a:solidFill>
            <a:srgbClr val="C2674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24" y="5218024"/>
            <a:ext cx="399593" cy="3995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94690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≠ results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5404104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Solvers are intimidating, online-only, and built for pros. Knowledge rarely converts into better play at the table.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955280" y="2148840"/>
            <a:ext cx="3566160" cy="3657600"/>
          </a:xfrm>
          <a:prstGeom prst="rect">
            <a:avLst/>
          </a:prstGeom>
          <a:solidFill>
            <a:srgbClr val="173129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955280" y="2148840"/>
            <a:ext cx="82296" cy="3657600"/>
          </a:xfrm>
          <a:prstGeom prst="rect">
            <a:avLst/>
          </a:prstGeom>
          <a:solidFill>
            <a:srgbClr val="D7A24B"/>
          </a:solidFill>
          <a:ln/>
        </p:spPr>
      </p:sp>
      <p:sp>
        <p:nvSpPr>
          <p:cNvPr id="18" name="Text 13"/>
          <p:cNvSpPr/>
          <p:nvPr/>
        </p:nvSpPr>
        <p:spPr>
          <a:xfrm>
            <a:off x="82296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7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19" name="Text 14"/>
          <p:cNvSpPr/>
          <p:nvPr/>
        </p:nvSpPr>
        <p:spPr>
          <a:xfrm>
            <a:off x="8321040" y="32004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Millions play online; most lose. The gap is rarely knowledge — it’s unfixed habits.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</a:t>
            </a:r>
            <a:pPr algn="l" indent="0" marL="0">
              <a:buNone/>
            </a:pPr>
            <a:r>
              <a:rPr lang="en-US" sz="900" b="1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LeakTutor</a:t>
            </a:r>
            <a:pPr algn="l" indent="0" marL="0">
              <a:buNone/>
            </a:pPr>
            <a:r>
              <a:rPr lang="en-US" sz="9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overview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LeakTutor turns your own play into a fix-list.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7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another spot library. A coach that knows your game.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1792" y="2514600"/>
            <a:ext cx="3383280" cy="3108960"/>
          </a:xfrm>
          <a:prstGeom prst="rect">
            <a:avLst/>
          </a:prstGeom>
          <a:solidFill>
            <a:srgbClr val="1F4438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2834640"/>
            <a:ext cx="868680" cy="868680"/>
          </a:xfrm>
          <a:prstGeom prst="ellipse">
            <a:avLst/>
          </a:prstGeom>
          <a:solidFill>
            <a:srgbClr val="D7A24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096" y="3069184"/>
            <a:ext cx="399593" cy="3995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Bring your hands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7552" y="43434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live spots or import your hand history — no setup, no spreadsheets.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959352" y="384048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A24B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389120" y="2514600"/>
            <a:ext cx="3383280" cy="3108960"/>
          </a:xfrm>
          <a:prstGeom prst="rect">
            <a:avLst/>
          </a:prstGeom>
          <a:solidFill>
            <a:srgbClr val="1F4438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834640"/>
            <a:ext cx="868680" cy="868680"/>
          </a:xfrm>
          <a:prstGeom prst="ellipse">
            <a:avLst/>
          </a:prstGeom>
          <a:solidFill>
            <a:srgbClr val="D7A24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424" y="3069184"/>
            <a:ext cx="399593" cy="3995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See your top leaks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54880" y="43434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LeakTutor auto-detects the exact positions and hand types you misplay most.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726680" y="384048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A24B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8156448" y="2514600"/>
            <a:ext cx="3383280" cy="3108960"/>
          </a:xfrm>
          <a:prstGeom prst="rect">
            <a:avLst/>
          </a:prstGeom>
          <a:solidFill>
            <a:srgbClr val="1F4438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22208" y="2834640"/>
            <a:ext cx="868680" cy="868680"/>
          </a:xfrm>
          <a:prstGeom prst="ellipse">
            <a:avLst/>
          </a:prstGeom>
          <a:solidFill>
            <a:srgbClr val="D7A24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752" y="3069184"/>
            <a:ext cx="399593" cy="3995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22208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Drill the fix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522208" y="43434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launches a targeted drill for that leak — with a plain-English “why” on every hand.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</a:t>
            </a:r>
            <a:pPr algn="l" indent="0" marL="0">
              <a:buNone/>
            </a:pPr>
            <a:r>
              <a:rPr lang="en-US" sz="900" b="1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LeakTutor</a:t>
            </a:r>
            <a:pPr algn="l" indent="0" marL="0">
              <a:buNone/>
            </a:pPr>
            <a:r>
              <a:rPr lang="en-US" sz="90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overview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drill loop that feels like a coach, not a textbook.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931920" cy="4023360"/>
          </a:xfrm>
          <a:prstGeom prst="roundRect">
            <a:avLst>
              <a:gd name="adj" fmla="val 4186"/>
            </a:avLst>
          </a:prstGeom>
          <a:solidFill>
            <a:srgbClr val="23201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514600"/>
            <a:ext cx="3017520" cy="1828800"/>
          </a:xfrm>
          <a:prstGeom prst="ellipse">
            <a:avLst/>
          </a:prstGeom>
          <a:solidFill>
            <a:srgbClr val="1F4438"/>
          </a:solidFill>
          <a:ln w="19050">
            <a:solidFill>
              <a:srgbClr val="6E8B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3154680"/>
            <a:ext cx="502920" cy="713232"/>
          </a:xfrm>
          <a:prstGeom prst="roundRect">
            <a:avLst>
              <a:gd name="adj" fmla="val 10909"/>
            </a:avLst>
          </a:prstGeom>
          <a:solidFill>
            <a:srgbClr val="F4EFE4"/>
          </a:solidFill>
          <a:ln/>
        </p:spPr>
      </p:sp>
      <p:sp>
        <p:nvSpPr>
          <p:cNvPr id="7" name="Text 5"/>
          <p:cNvSpPr/>
          <p:nvPr/>
        </p:nvSpPr>
        <p:spPr>
          <a:xfrm>
            <a:off x="2057400" y="31546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3154680"/>
            <a:ext cx="502920" cy="713232"/>
          </a:xfrm>
          <a:prstGeom prst="roundRect">
            <a:avLst>
              <a:gd name="adj" fmla="val 10909"/>
            </a:avLst>
          </a:prstGeom>
          <a:solidFill>
            <a:srgbClr val="F4EFE4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31546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45720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F4438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45720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6E8B7B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45720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D7A24B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1560" y="525780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6E8B7B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5303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Raise — correct. A♠K♥ opens 100% from the button; folding here forfeits value.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2148840"/>
            <a:ext cx="566928" cy="566928"/>
          </a:xfrm>
          <a:prstGeom prst="ellipse">
            <a:avLst/>
          </a:prstGeom>
          <a:solidFill>
            <a:srgbClr val="6E8B7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2271" y="2301911"/>
            <a:ext cx="260787" cy="26078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779008" y="209397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GTO-correct answers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779008" y="24414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solver strategy, scored instantly — including mixed frequencies.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0" y="2990088"/>
            <a:ext cx="566928" cy="566928"/>
          </a:xfrm>
          <a:prstGeom prst="ellipse">
            <a:avLst/>
          </a:prstGeom>
          <a:solidFill>
            <a:srgbClr val="6E8B7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71" y="3143159"/>
            <a:ext cx="260787" cy="26078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779008" y="293522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Plain-English “why”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779008" y="328269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explained the way a coach would, not a solver dump.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5029200" y="3831336"/>
            <a:ext cx="566928" cy="566928"/>
          </a:xfrm>
          <a:prstGeom prst="ellipse">
            <a:avLst/>
          </a:prstGeom>
          <a:solidFill>
            <a:srgbClr val="6E8B7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71" y="3984407"/>
            <a:ext cx="260787" cy="260787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779008" y="37764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 tracker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5779008" y="412394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Auto-aggregates your mistakes by position and hand type.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5029200" y="4672584"/>
            <a:ext cx="566928" cy="566928"/>
          </a:xfrm>
          <a:prstGeom prst="ellipse">
            <a:avLst/>
          </a:prstGeom>
          <a:solidFill>
            <a:srgbClr val="6E8B7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271" y="4825655"/>
            <a:ext cx="260787" cy="26078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779008" y="4617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One-tap targeted drills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5779008" y="496519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straight from a leak into the spots that fix it.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5029200" y="5513832"/>
            <a:ext cx="566928" cy="566928"/>
          </a:xfrm>
          <a:prstGeom prst="ellipse">
            <a:avLst/>
          </a:prstGeom>
          <a:solidFill>
            <a:srgbClr val="6E8B7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2271" y="5666903"/>
            <a:ext cx="260787" cy="260787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779008" y="54589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challenge + streaks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5779008" y="5806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habit loop that brings players back day after day.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</a:t>
            </a:r>
            <a:pPr algn="l" indent="0" marL="0">
              <a:buNone/>
            </a:pPr>
            <a:r>
              <a:rPr lang="en-US" sz="900" b="1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LeakTutor</a:t>
            </a:r>
            <a:pPr algn="l" indent="0" marL="0">
              <a:buNone/>
            </a:pPr>
            <a:r>
              <a:rPr lang="en-US" sz="9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overview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DEFENSIBLE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moat: personalization on top of real solver data.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6E8B7B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532888"/>
            <a:ext cx="731520" cy="731520"/>
          </a:xfrm>
          <a:prstGeom prst="ellipse">
            <a:avLst/>
          </a:prstGeom>
          <a:solidFill>
            <a:srgbClr val="6E8B7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30" y="2730398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4231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Solver data, precomputed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74520" y="286207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strategy from an open-source solver, baked into the app — credible answers with zero server cost.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257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2148840"/>
            <a:ext cx="82296" cy="1737360"/>
          </a:xfrm>
          <a:prstGeom prst="rect">
            <a:avLst/>
          </a:prstGeom>
          <a:solidFill>
            <a:srgbClr val="6E8B7B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2532888"/>
            <a:ext cx="731520" cy="731520"/>
          </a:xfrm>
          <a:prstGeom prst="ellipse">
            <a:avLst/>
          </a:prstGeom>
          <a:solidFill>
            <a:srgbClr val="6E8B7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910" y="2730398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4231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Leak-fixing, not browsing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543800" y="286207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your weaknesses and drilling them is the wedge incumbents don’t do well.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4251960"/>
            <a:ext cx="5257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4251960"/>
            <a:ext cx="82296" cy="1737360"/>
          </a:xfrm>
          <a:prstGeom prst="rect">
            <a:avLst/>
          </a:prstGeom>
          <a:solidFill>
            <a:srgbClr val="6E8B7B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4636008"/>
            <a:ext cx="731520" cy="731520"/>
          </a:xfrm>
          <a:prstGeom prst="ellipse">
            <a:avLst/>
          </a:prstGeom>
          <a:solidFill>
            <a:srgbClr val="6E8B7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630" y="4833518"/>
            <a:ext cx="336499" cy="33649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74520" y="45262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Offline-first PWA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74520" y="496519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like an app, works on a plane, no app-store tax. Train anywhere.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309360" y="4251960"/>
            <a:ext cx="5257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09360" y="4251960"/>
            <a:ext cx="82296" cy="1737360"/>
          </a:xfrm>
          <a:prstGeom prst="rect">
            <a:avLst/>
          </a:prstGeom>
          <a:solidFill>
            <a:srgbClr val="6E8B7B"/>
          </a:solidFill>
          <a:ln/>
        </p:spPr>
      </p:sp>
      <p:sp>
        <p:nvSpPr>
          <p:cNvPr id="24" name="Shape 19"/>
          <p:cNvSpPr/>
          <p:nvPr/>
        </p:nvSpPr>
        <p:spPr>
          <a:xfrm>
            <a:off x="6629400" y="4636008"/>
            <a:ext cx="731520" cy="731520"/>
          </a:xfrm>
          <a:prstGeom prst="ellipse">
            <a:avLst/>
          </a:prstGeom>
          <a:solidFill>
            <a:srgbClr val="6E8B7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910" y="4833518"/>
            <a:ext cx="336499" cy="33649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43800" y="45262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Beginner → intermediate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543800" y="496519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curriculum widens the funnel past hardcore grinders to the much larger learner market.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</a:t>
            </a:r>
            <a:pPr algn="l" indent="0" marL="0">
              <a:buNone/>
            </a:pPr>
            <a:r>
              <a:rPr lang="en-US" sz="900" b="1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LeakTutor</a:t>
            </a:r>
            <a:pPr algn="l" indent="0" marL="0">
              <a:buNone/>
            </a:pPr>
            <a:r>
              <a:rPr lang="en-US" sz="9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overview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3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teaches theory. We fix your game.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881360" cy="3657600"/>
        </p:xfrm>
        <a:graphic>
          <a:graphicData uri="http://schemas.openxmlformats.org/drawingml/2006/table">
            <a:tbl>
              <a:tblPr/>
              <a:tblGrid>
                <a:gridCol w="3017520"/>
                <a:gridCol w="1965960"/>
                <a:gridCol w="1965960"/>
                <a:gridCol w="1965960"/>
                <a:gridCol w="19659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GTO Wizard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trainers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1-on-1 coaching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3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LeakTutor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A2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to your leaks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BC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BC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E8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Plain-English coaching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BC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E8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fully offline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BC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BC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Beginner-friendly path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E8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E8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EF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Always-on &amp; affordable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E8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E8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9BC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A2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9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= strong   ·   —  = weak / absent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</a:t>
            </a:r>
            <a:pPr algn="l" indent="0" marL="0">
              <a:buNone/>
            </a:pPr>
            <a:r>
              <a:rPr lang="en-US" sz="900" b="1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LeakTutor</a:t>
            </a:r>
            <a:pPr algn="l" indent="0" marL="0">
              <a:buNone/>
            </a:pPr>
            <a:r>
              <a:rPr lang="en-US" sz="90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overview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TIMING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large, paying audience — and the tech just got cheap.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377440"/>
            <a:ext cx="640080" cy="640080"/>
          </a:xfrm>
          <a:prstGeom prst="ellipse">
            <a:avLst/>
          </a:prstGeom>
          <a:solidFill>
            <a:srgbClr val="C2674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10" y="25502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base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 people play online poker worldwide, and the study-tool habit keeps growing.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2103120"/>
            <a:ext cx="35204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4296" y="2377440"/>
            <a:ext cx="640080" cy="640080"/>
          </a:xfrm>
          <a:prstGeom prst="ellipse">
            <a:avLst/>
          </a:prstGeom>
          <a:solidFill>
            <a:srgbClr val="C2674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118" y="255026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solvers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54296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solvers make credible GTO content affordable to produce — no compute moat needed to start.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2103120"/>
            <a:ext cx="35204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2377440"/>
            <a:ext cx="640080" cy="640080"/>
          </a:xfrm>
          <a:prstGeom prst="ellipse">
            <a:avLst/>
          </a:prstGeom>
          <a:solidFill>
            <a:srgbClr val="C2674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726" y="255026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34856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75904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PWAs + offline play unlock training on the device players actually carry.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10241280" cy="566928"/>
          </a:xfrm>
          <a:prstGeom prst="rect">
            <a:avLst/>
          </a:prstGeom>
          <a:solidFill>
            <a:srgbClr val="6E8B7B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41605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920240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poker training &amp; study spend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9509760" y="4160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$[ — ] B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40080" y="4818888"/>
            <a:ext cx="7315200" cy="566928"/>
          </a:xfrm>
          <a:prstGeom prst="rect">
            <a:avLst/>
          </a:prstGeom>
          <a:solidFill>
            <a:srgbClr val="40543F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48188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920240" y="481888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English-speaking online cash &amp; MTT students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583680" y="48188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$[ — ] M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40080" y="5477256"/>
            <a:ext cx="4389120" cy="566928"/>
          </a:xfrm>
          <a:prstGeom prst="rect">
            <a:avLst/>
          </a:prstGeom>
          <a:solidFill>
            <a:srgbClr val="C2674A"/>
          </a:solidFill>
          <a:ln/>
        </p:spPr>
      </p:sp>
      <p:sp>
        <p:nvSpPr>
          <p:cNvPr id="28" name="Text 23"/>
          <p:cNvSpPr/>
          <p:nvPr/>
        </p:nvSpPr>
        <p:spPr>
          <a:xfrm>
            <a:off x="822960" y="547725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920240" y="547725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in 18 mo via poker communities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3657600" y="54772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$[ — ] M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4008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is a framework — drop in your segment figures. Player-base anchor is an industry estimate.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</a:t>
            </a:r>
            <a:pPr algn="l" indent="0" marL="0">
              <a:buNone/>
            </a:pPr>
            <a:r>
              <a:rPr lang="en-US" sz="900" b="1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LeakTutor</a:t>
            </a:r>
            <a:pPr algn="l" indent="0" marL="0">
              <a:buNone/>
            </a:pPr>
            <a:r>
              <a:rPr lang="en-US" sz="9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overview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subscription, near-zero marginal cost.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029200" cy="3383280"/>
          </a:xfrm>
          <a:prstGeom prst="rect">
            <a:avLst/>
          </a:prstGeom>
          <a:solidFill>
            <a:srgbClr val="1F4438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68880"/>
            <a:ext cx="640080" cy="640080"/>
          </a:xfrm>
          <a:prstGeom prst="ellipse">
            <a:avLst/>
          </a:prstGeom>
          <a:solidFill>
            <a:srgbClr val="6E8B7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662" y="264170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487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83080" y="2907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 — get value in 30 seconds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342900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preflop GTO trainer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postflop spots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tracking + daily streak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learning path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2194560"/>
            <a:ext cx="52120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2194560"/>
            <a:ext cx="5212080" cy="109728"/>
          </a:xfrm>
          <a:prstGeom prst="rect">
            <a:avLst/>
          </a:prstGeom>
          <a:solidFill>
            <a:srgbClr val="D7A24B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2487168"/>
            <a:ext cx="640080" cy="640080"/>
          </a:xfrm>
          <a:prstGeom prst="ellipse">
            <a:avLst/>
          </a:prstGeom>
          <a:solidFill>
            <a:srgbClr val="D7A24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622" y="2659990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5054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17804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$[ — ]/mo · illustrative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92240" y="342900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postflop corpus + bet-sizing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hand-history imports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Postflop leak reports + study plans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across devices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" y="5669280"/>
            <a:ext cx="10881360" cy="566928"/>
          </a:xfrm>
          <a:prstGeom prst="rect">
            <a:avLst/>
          </a:prstGeom>
          <a:solidFill>
            <a:srgbClr val="20493B"/>
          </a:solidFill>
          <a:ln/>
        </p:spPr>
      </p:sp>
      <p:sp>
        <p:nvSpPr>
          <p:cNvPr id="18" name="Text 14"/>
          <p:cNvSpPr/>
          <p:nvPr/>
        </p:nvSpPr>
        <p:spPr>
          <a:xfrm>
            <a:off x="914400" y="5669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 </a:t>
            </a:r>
            <a:pPr indent="0" marL="0">
              <a:buNone/>
            </a:pPr>
            <a:r>
              <a:rPr lang="en-US" sz="1250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solved once and reused forever → marginal cost per user ≈ $0 and gross margins scale like classic software.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</a:t>
            </a:r>
            <a:pPr algn="l" indent="0" marL="0">
              <a:buNone/>
            </a:pPr>
            <a:r>
              <a:rPr lang="en-US" sz="900" b="1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LeakTutor</a:t>
            </a:r>
            <a:pPr algn="l" indent="0" marL="0">
              <a:buNone/>
            </a:pPr>
            <a:r>
              <a:rPr lang="en-US" sz="90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overview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is built and live. Next: users.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40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26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shipped &amp; installable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240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26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modes: open, vs-raise, multiway, postflop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240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26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TexasSolver-validated strategy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9680" y="210312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2240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26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offline-capable, no backend required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5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engineered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Preflop GTO ranges (RFI, vs-RFI, multiway / squeeze)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Postflop bet-sizing wired (Check / Bet ⅓ / Bet ¾)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leak tracker → one-tap targeted drilling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Spaced-repetition review of missed spots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766560" y="3977640"/>
            <a:ext cx="4754880" cy="2103120"/>
          </a:xfrm>
          <a:prstGeom prst="rect">
            <a:avLst/>
          </a:prstGeom>
          <a:solidFill>
            <a:srgbClr val="173129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86600" y="4297680"/>
            <a:ext cx="640080" cy="640080"/>
          </a:xfrm>
          <a:prstGeom prst="ellipse">
            <a:avLst/>
          </a:prstGeom>
          <a:solidFill>
            <a:srgbClr val="D7A24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9422" y="4470502"/>
            <a:ext cx="294437" cy="29443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863840" y="4315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De-risked: the hard part is done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086600" y="49834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credible, offline GTO product already exists and works. Capital goes to growth and content depth — not proving feasibility.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</a:t>
            </a:r>
            <a:pPr algn="l" indent="0" marL="0">
              <a:buNone/>
            </a:pPr>
            <a:r>
              <a:rPr lang="en-US" sz="900" b="1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LeakTutor</a:t>
            </a:r>
            <a:pPr algn="l" indent="0" marL="0">
              <a:buNone/>
            </a:pPr>
            <a:r>
              <a:rPr lang="en-US" sz="9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overview ·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working product to growing business.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2788920"/>
            <a:ext cx="8695944" cy="0"/>
          </a:xfrm>
          <a:prstGeom prst="line">
            <a:avLst/>
          </a:prstGeom>
          <a:noFill/>
          <a:ln w="38100">
            <a:solidFill>
              <a:srgbClr val="1F44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2377440"/>
            <a:ext cx="822960" cy="822960"/>
          </a:xfrm>
          <a:prstGeom prst="ellipse">
            <a:avLst/>
          </a:prstGeom>
          <a:solidFill>
            <a:srgbClr val="D7A24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819" y="259963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Substance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4160520"/>
            <a:ext cx="2331720" cy="1554480"/>
          </a:xfrm>
          <a:prstGeom prst="rect">
            <a:avLst/>
          </a:prstGeom>
          <a:solidFill>
            <a:srgbClr val="1F4438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429768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postflop corpus — more boards, bet-sizing, 3-bet pots.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0268" y="2377440"/>
            <a:ext cx="822960" cy="822960"/>
          </a:xfrm>
          <a:prstGeom prst="ellipse">
            <a:avLst/>
          </a:prstGeom>
          <a:solidFill>
            <a:srgbClr val="6E8B7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467" y="259963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38728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3675888" y="4160520"/>
            <a:ext cx="2331720" cy="1554480"/>
          </a:xfrm>
          <a:prstGeom prst="rect">
            <a:avLst/>
          </a:prstGeom>
          <a:solidFill>
            <a:srgbClr val="1F4438"/>
          </a:solidFill>
          <a:ln/>
        </p:spPr>
      </p:sp>
      <p:sp>
        <p:nvSpPr>
          <p:cNvPr id="16" name="Text 12"/>
          <p:cNvSpPr/>
          <p:nvPr/>
        </p:nvSpPr>
        <p:spPr>
          <a:xfrm>
            <a:off x="3858768" y="429768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Postflop leak reports, structured study plans, challenges.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328916" y="2377440"/>
            <a:ext cx="822960" cy="822960"/>
          </a:xfrm>
          <a:prstGeom prst="ellipse">
            <a:avLst/>
          </a:prstGeom>
          <a:solidFill>
            <a:srgbClr val="6E8B7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115" y="2599639"/>
            <a:ext cx="378562" cy="3785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37376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37376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</a:t>
            </a:r>
            <a:endParaRPr lang="en-US" sz="1900" dirty="0"/>
          </a:p>
        </p:txBody>
      </p:sp>
      <p:sp>
        <p:nvSpPr>
          <p:cNvPr id="21" name="Shape 16"/>
          <p:cNvSpPr/>
          <p:nvPr/>
        </p:nvSpPr>
        <p:spPr>
          <a:xfrm>
            <a:off x="6574536" y="4160520"/>
            <a:ext cx="2331720" cy="1554480"/>
          </a:xfrm>
          <a:prstGeom prst="rect">
            <a:avLst/>
          </a:prstGeom>
          <a:solidFill>
            <a:srgbClr val="1F4438"/>
          </a:solidFill>
          <a:ln/>
        </p:spPr>
      </p:sp>
      <p:sp>
        <p:nvSpPr>
          <p:cNvPr id="22" name="Text 17"/>
          <p:cNvSpPr/>
          <p:nvPr/>
        </p:nvSpPr>
        <p:spPr>
          <a:xfrm>
            <a:off x="6757416" y="429768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+ cloud sync, mobile polish, social leaderboards.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10227564" y="2377440"/>
            <a:ext cx="822960" cy="822960"/>
          </a:xfrm>
          <a:prstGeom prst="ellipse">
            <a:avLst/>
          </a:prstGeom>
          <a:solidFill>
            <a:srgbClr val="6E8B7B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763" y="2599639"/>
            <a:ext cx="378562" cy="3785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36024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336024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Monetize</a:t>
            </a:r>
            <a:endParaRPr lang="en-US" sz="1900" dirty="0"/>
          </a:p>
        </p:txBody>
      </p:sp>
      <p:sp>
        <p:nvSpPr>
          <p:cNvPr id="27" name="Shape 21"/>
          <p:cNvSpPr/>
          <p:nvPr/>
        </p:nvSpPr>
        <p:spPr>
          <a:xfrm>
            <a:off x="9473184" y="4160520"/>
            <a:ext cx="2331720" cy="1554480"/>
          </a:xfrm>
          <a:prstGeom prst="rect">
            <a:avLst/>
          </a:prstGeom>
          <a:solidFill>
            <a:srgbClr val="1F4438"/>
          </a:solidFill>
          <a:ln/>
        </p:spPr>
      </p:sp>
      <p:sp>
        <p:nvSpPr>
          <p:cNvPr id="28" name="Text 22"/>
          <p:cNvSpPr/>
          <p:nvPr/>
        </p:nvSpPr>
        <p:spPr>
          <a:xfrm>
            <a:off x="9656064" y="429768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 at scale + B2B for coaches and poker sites.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</a:t>
            </a:r>
            <a:pPr algn="l" indent="0" marL="0">
              <a:buNone/>
            </a:pPr>
            <a:r>
              <a:rPr lang="en-US" sz="900" b="1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LeakTutor</a:t>
            </a:r>
            <a:pPr algn="l" indent="0" marL="0">
              <a:buNone/>
            </a:pPr>
            <a:r>
              <a:rPr lang="en-US" sz="90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overview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6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$[ — ] to turn a product into momentum.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5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 · use of funds over the next 12–18 months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04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3520440" cy="91440"/>
          </a:xfrm>
          <a:prstGeom prst="rect">
            <a:avLst/>
          </a:prstGeom>
          <a:solidFill>
            <a:srgbClr val="C2674A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606040"/>
            <a:ext cx="685800" cy="685800"/>
          </a:xfrm>
          <a:prstGeom prst="ellipse">
            <a:avLst/>
          </a:prstGeom>
          <a:solidFill>
            <a:srgbClr val="C2674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2791206"/>
            <a:ext cx="315468" cy="3154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5786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26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6012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depth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3840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solver corpus across boards, sizings and pot types — the substance that justifies premium.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61688" y="2286000"/>
            <a:ext cx="35204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1688" y="2286000"/>
            <a:ext cx="3520440" cy="91440"/>
          </a:xfrm>
          <a:prstGeom prst="rect">
            <a:avLst/>
          </a:prstGeom>
          <a:solidFill>
            <a:srgbClr val="C2674A"/>
          </a:solidFill>
          <a:ln/>
        </p:spPr>
      </p:sp>
      <p:sp>
        <p:nvSpPr>
          <p:cNvPr id="14" name="Shape 11"/>
          <p:cNvSpPr/>
          <p:nvPr/>
        </p:nvSpPr>
        <p:spPr>
          <a:xfrm>
            <a:off x="4681728" y="2606040"/>
            <a:ext cx="685800" cy="685800"/>
          </a:xfrm>
          <a:prstGeom prst="ellipse">
            <a:avLst/>
          </a:prstGeom>
          <a:solidFill>
            <a:srgbClr val="C2674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894" y="2791206"/>
            <a:ext cx="315468" cy="3154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50408" y="25786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26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~35%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4681728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681728" y="3840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through poker communities, creators and content; convert free users to paid.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083296" y="2286000"/>
            <a:ext cx="35204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83296" y="2286000"/>
            <a:ext cx="3520440" cy="91440"/>
          </a:xfrm>
          <a:prstGeom prst="rect">
            <a:avLst/>
          </a:prstGeom>
          <a:solidFill>
            <a:srgbClr val="C2674A"/>
          </a:solidFill>
          <a:ln/>
        </p:spPr>
      </p:sp>
      <p:sp>
        <p:nvSpPr>
          <p:cNvPr id="21" name="Shape 17"/>
          <p:cNvSpPr/>
          <p:nvPr/>
        </p:nvSpPr>
        <p:spPr>
          <a:xfrm>
            <a:off x="8403336" y="2606040"/>
            <a:ext cx="685800" cy="685800"/>
          </a:xfrm>
          <a:prstGeom prst="ellipse">
            <a:avLst/>
          </a:prstGeom>
          <a:solidFill>
            <a:srgbClr val="C2674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502" y="2791206"/>
            <a:ext cx="315468" cy="3154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272016" y="25786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26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~20%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8403336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403336" y="3840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engineer and part-time poker content lead to ship faster.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solidFill>
            <a:srgbClr val="173129"/>
          </a:solidFill>
          <a:ln/>
        </p:spPr>
      </p:sp>
      <p:sp>
        <p:nvSpPr>
          <p:cNvPr id="27" name="Text 22"/>
          <p:cNvSpPr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this funds:  </a:t>
            </a:r>
            <a:pPr indent="0" marL="0">
              <a:buNone/>
            </a:pPr>
            <a:r>
              <a:rPr lang="en-US" sz="1350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premium · reach [ — ] active users · [ — ]% free→paid conversion · prove monthly retention.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</a:t>
            </a:r>
            <a:pPr algn="l" indent="0" marL="0">
              <a:buNone/>
            </a:pPr>
            <a:r>
              <a:rPr lang="en-US" sz="900" b="1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LeakTutor</a:t>
            </a:r>
            <a:pPr algn="l" indent="0" marL="0">
              <a:buNone/>
            </a:pPr>
            <a:r>
              <a:rPr lang="en-US" sz="900" dirty="0">
                <a:solidFill>
                  <a:srgbClr val="6E6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overview ·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 ♥   ♦   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♠  </a:t>
            </a:r>
            <a:pPr indent="0" marL="0">
              <a:buNone/>
            </a:pPr>
            <a:r>
              <a:rPr lang="en-US" sz="24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LeakTutor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studying poker.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fixing your game.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2743200" cy="36576"/>
          </a:xfrm>
          <a:prstGeom prst="rect">
            <a:avLst/>
          </a:prstGeom>
          <a:solidFill>
            <a:srgbClr val="D7A24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983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daniel-willoughby.github.io/GTO-leak-fixer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Founder name · email · phone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7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  </a:t>
            </a:r>
            <a:pPr algn="l" indent="0" marL="0">
              <a:buNone/>
            </a:pPr>
            <a:r>
              <a:rPr lang="en-US" sz="900" b="1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LeakTutor</a:t>
            </a:r>
            <a:pPr algn="l" indent="0" marL="0">
              <a:buNone/>
            </a:pPr>
            <a:r>
              <a:rPr lang="en-US" sz="900" dirty="0">
                <a:solidFill>
                  <a:srgbClr val="C9B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overview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LeakTutor — Investor Overview</dc:title>
  <dc:subject>PptxGenJS Presentation</dc:subject>
  <dc:creator>LeakTutor</dc:creator>
  <cp:lastModifiedBy>LeakTutor</cp:lastModifiedBy>
  <cp:revision>1</cp:revision>
  <dcterms:created xsi:type="dcterms:W3CDTF">2026-06-09T15:26:46Z</dcterms:created>
  <dcterms:modified xsi:type="dcterms:W3CDTF">2026-06-09T15:26:46Z</dcterms:modified>
</cp:coreProperties>
</file>